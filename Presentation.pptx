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71500" cy="38100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1295400"/>
            <a:ext cx="13620750" cy="878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b="1" spc="-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Robot Localization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52500" y="2402086"/>
            <a:ext cx="180213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Kalman Filter · Extended Kalman Filter · Particle Filter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2906911"/>
            <a:ext cx="180213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66A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TurtleBot3 Waffle — ROS 2 Jazzy — Gazebo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8591550"/>
            <a:ext cx="7441555" cy="561975"/>
          </a:xfrm>
          <a:prstGeom prst="rect">
            <a:avLst/>
          </a:prstGeom>
          <a:solidFill>
            <a:srgbClr val="8BB31D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8591550"/>
            <a:ext cx="38100" cy="561975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8739188"/>
            <a:ext cx="35862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TASK 2510331009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08029" y="8724900"/>
            <a:ext cx="1208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43177" y="8724900"/>
            <a:ext cx="350259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 Degeneration Analysis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2500" y="9305925"/>
            <a:ext cx="169637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Rainhard Wipp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75657" y="9305925"/>
            <a:ext cx="310035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M.Sc. Robotics Engineering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75164" y="9305925"/>
            <a:ext cx="22765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 Technikum Wien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25768" y="9305925"/>
            <a:ext cx="324409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Robotics (PRO)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64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0480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00" kern="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3843338"/>
            <a:ext cx="495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14500" y="3724275"/>
            <a:ext cx="43599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&amp; Filter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4567238"/>
            <a:ext cx="495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14500" y="4448175"/>
            <a:ext cx="759618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Setup &amp; Landmark Correction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52500" y="5291138"/>
            <a:ext cx="495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14500" y="5172075"/>
            <a:ext cx="387258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/ R Sensitivity Study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62000" y="5895975"/>
            <a:ext cx="16573500" cy="6953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6115050"/>
            <a:ext cx="495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14500" y="6029325"/>
            <a:ext cx="947477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Task 2510331009 — Particle Degeneration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52500" y="6938963"/>
            <a:ext cx="495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14500" y="6819900"/>
            <a:ext cx="548448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Discussion, Status &amp; Takeaways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06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952500" y="1533525"/>
            <a:ext cx="457200" cy="28575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4364831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4250531"/>
            <a:ext cx="1138053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robots must estimate their pose under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 motion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sensing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52500" y="4969669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4855369"/>
            <a:ext cx="1729917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classical probabilistic state estimators: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EKF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 Filter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all implemented on one platform with identical inputs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5574506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9" name="Text 7"/>
          <p:cNvSpPr/>
          <p:nvPr/>
        </p:nvSpPr>
        <p:spPr>
          <a:xfrm>
            <a:off x="1276350" y="5460206"/>
            <a:ext cx="1160612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Task 2510331009: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 PF resampling and analyze particle degeneration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6255544"/>
            <a:ext cx="16383000" cy="107632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1" name="Shape 9"/>
          <p:cNvSpPr/>
          <p:nvPr/>
        </p:nvSpPr>
        <p:spPr>
          <a:xfrm>
            <a:off x="952500" y="6255544"/>
            <a:ext cx="38100" cy="1076325"/>
          </a:xfrm>
          <a:prstGeom prst="rect">
            <a:avLst/>
          </a:prstGeom>
          <a:solidFill>
            <a:srgbClr val="00649C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484144"/>
            <a:ext cx="20002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95400" y="6788944"/>
            <a:ext cx="189458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TurtleBot3 Waffle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47182" y="6484144"/>
            <a:ext cx="3232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47182" y="6788944"/>
            <a:ext cx="302707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 2 Jazzy · Nav2 · Gazebo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19491" y="6484144"/>
            <a:ext cx="36435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19491" y="6788944"/>
            <a:ext cx="341168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(rclcpp, Eigen3) + Python 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65210" y="6484144"/>
            <a:ext cx="29345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vector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65210" y="6807994"/>
            <a:ext cx="274777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 = [x, y, θ]ᵀ (odom frame)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2500" y="9744075"/>
            <a:ext cx="34475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PROLB_R — Special Task 2510331009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4341673" y="9744075"/>
            <a:ext cx="32932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Rainhard Wipp · FH Technikum Wien</a:t>
            </a:r>
            <a:endParaRPr lang="en-US" sz="14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06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— ROS 2 Nodes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952500" y="1533525"/>
            <a:ext cx="457200" cy="28575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19050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</a:t>
            </a:r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highlight>
                  <a:srgbClr val="F4F6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launch </a:t>
            </a:r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the full pipeline: Gazebo + Nav2 (0 s) → Filters + RViz + Logger (5 s) → AutoNav (10 s)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409825"/>
            <a:ext cx="16383000" cy="533400"/>
          </a:xfrm>
          <a:prstGeom prst="rect">
            <a:avLst/>
          </a:prstGeom>
          <a:solidFill>
            <a:srgbClr val="00649C"/>
          </a:solidFill>
          <a:ln/>
        </p:spPr>
      </p:sp>
      <p:sp>
        <p:nvSpPr>
          <p:cNvPr id="6" name="Shape 4"/>
          <p:cNvSpPr/>
          <p:nvPr/>
        </p:nvSpPr>
        <p:spPr>
          <a:xfrm>
            <a:off x="3193852" y="2409825"/>
            <a:ext cx="9525" cy="5334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543175"/>
            <a:ext cx="19365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573167" y="2409825"/>
            <a:ext cx="9525" cy="5334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393877" y="2543175"/>
            <a:ext cx="20649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Executable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384732" y="2409825"/>
            <a:ext cx="9525" cy="5334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773192" y="2543175"/>
            <a:ext cx="66253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584757" y="2543175"/>
            <a:ext cx="47084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3509963"/>
            <a:ext cx="16383000" cy="9525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076575"/>
            <a:ext cx="194607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Kalman Filter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93877" y="3076575"/>
            <a:ext cx="207451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kf_node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73192" y="3076575"/>
            <a:ext cx="663491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/cmd_vel, /odom, /scan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584757" y="3076575"/>
            <a:ext cx="470848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6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/pose_kf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52500" y="3519488"/>
            <a:ext cx="16383000" cy="581025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19" name="Shape 17"/>
          <p:cNvSpPr/>
          <p:nvPr/>
        </p:nvSpPr>
        <p:spPr>
          <a:xfrm>
            <a:off x="952500" y="4090987"/>
            <a:ext cx="16383000" cy="9525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3652838"/>
            <a:ext cx="194607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KF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393877" y="3652838"/>
            <a:ext cx="20745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ekf_node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73192" y="3652838"/>
            <a:ext cx="663491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/cmd_vel, /odom, /scan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584757" y="3652838"/>
            <a:ext cx="47084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6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/pose_ekf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52500" y="4672013"/>
            <a:ext cx="16383000" cy="9525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4233863"/>
            <a:ext cx="194607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 Filter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393877" y="4233863"/>
            <a:ext cx="20745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pf_node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773192" y="4233863"/>
            <a:ext cx="663491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/cmd_vel, /odom, /scan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584757" y="4233863"/>
            <a:ext cx="47084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6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/pose_pf, /pf_particles, /n_eff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52500" y="4681538"/>
            <a:ext cx="16383000" cy="581025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0" name="Shape 28"/>
          <p:cNvSpPr/>
          <p:nvPr/>
        </p:nvSpPr>
        <p:spPr>
          <a:xfrm>
            <a:off x="952500" y="5253038"/>
            <a:ext cx="16383000" cy="9525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4814888"/>
            <a:ext cx="194607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Logger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393877" y="4814888"/>
            <a:ext cx="20745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data_logger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773192" y="4814888"/>
            <a:ext cx="663491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/odom, /pose_kf, /pose_ekf, /pose_pf, /n_eff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2584757" y="4814888"/>
            <a:ext cx="47084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6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 file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43000" y="5395912"/>
            <a:ext cx="194607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AutoNav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393877" y="5395912"/>
            <a:ext cx="207451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auto_nav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773192" y="5395912"/>
            <a:ext cx="663491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584757" y="5395912"/>
            <a:ext cx="470848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6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/initialpose, Nav2 goals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52500" y="6029325"/>
            <a:ext cx="703829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vector (all filters): </a:t>
            </a:r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 = [x, y, θ]ᵀ </a:t>
            </a:r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reference frame: odom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242995" y="6029325"/>
            <a:ext cx="936528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args: </a:t>
            </a:r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pf:=true resampling:=false sigma_process:=.. sigma_meas:=..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52500" y="9744075"/>
            <a:ext cx="34475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PROLB_R — Special Task 2510331009</a:t>
            </a:r>
            <a:endParaRPr lang="en-US" sz="1425" dirty="0"/>
          </a:p>
        </p:txBody>
      </p:sp>
      <p:sp>
        <p:nvSpPr>
          <p:cNvPr id="42" name="Text 40"/>
          <p:cNvSpPr/>
          <p:nvPr/>
        </p:nvSpPr>
        <p:spPr>
          <a:xfrm>
            <a:off x="14341673" y="9744075"/>
            <a:ext cx="32932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Rainhard Wipp · FH Technikum Wien</a:t>
            </a:r>
            <a:endParaRPr lang="en-US" sz="14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06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at a Glance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952500" y="1533525"/>
            <a:ext cx="457200" cy="28575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1981200"/>
            <a:ext cx="2171700" cy="58102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543175"/>
            <a:ext cx="2171700" cy="19050"/>
          </a:xfrm>
          <a:prstGeom prst="rect">
            <a:avLst/>
          </a:prstGeom>
          <a:solidFill>
            <a:srgbClr val="E0E4EA"/>
          </a:solidFill>
          <a:ln/>
        </p:spPr>
      </p:sp>
      <p:sp>
        <p:nvSpPr>
          <p:cNvPr id="6" name="Shape 4"/>
          <p:cNvSpPr/>
          <p:nvPr/>
        </p:nvSpPr>
        <p:spPr>
          <a:xfrm>
            <a:off x="3124200" y="1981200"/>
            <a:ext cx="4274493" cy="581025"/>
          </a:xfrm>
          <a:prstGeom prst="rect">
            <a:avLst/>
          </a:prstGeom>
          <a:solidFill>
            <a:srgbClr val="00649C"/>
          </a:solidFill>
          <a:ln/>
        </p:spPr>
      </p:sp>
      <p:sp>
        <p:nvSpPr>
          <p:cNvPr id="7" name="Shape 5"/>
          <p:cNvSpPr/>
          <p:nvPr/>
        </p:nvSpPr>
        <p:spPr>
          <a:xfrm>
            <a:off x="3124200" y="2543175"/>
            <a:ext cx="4274493" cy="19050"/>
          </a:xfrm>
          <a:prstGeom prst="rect">
            <a:avLst/>
          </a:prstGeom>
          <a:solidFill>
            <a:srgbClr val="005A8A"/>
          </a:solidFill>
          <a:ln/>
        </p:spPr>
      </p:sp>
      <p:sp>
        <p:nvSpPr>
          <p:cNvPr id="8" name="Text 6"/>
          <p:cNvSpPr/>
          <p:nvPr/>
        </p:nvSpPr>
        <p:spPr>
          <a:xfrm>
            <a:off x="3352800" y="2133600"/>
            <a:ext cx="39455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Kalman Filter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98693" y="1981200"/>
            <a:ext cx="4777234" cy="581025"/>
          </a:xfrm>
          <a:prstGeom prst="rect">
            <a:avLst/>
          </a:prstGeom>
          <a:solidFill>
            <a:srgbClr val="00649C"/>
          </a:solidFill>
          <a:ln/>
        </p:spPr>
      </p:sp>
      <p:sp>
        <p:nvSpPr>
          <p:cNvPr id="10" name="Shape 8"/>
          <p:cNvSpPr/>
          <p:nvPr/>
        </p:nvSpPr>
        <p:spPr>
          <a:xfrm>
            <a:off x="7398693" y="2543175"/>
            <a:ext cx="4777234" cy="19050"/>
          </a:xfrm>
          <a:prstGeom prst="rect">
            <a:avLst/>
          </a:prstGeom>
          <a:solidFill>
            <a:srgbClr val="005A8A"/>
          </a:solidFill>
          <a:ln/>
        </p:spPr>
      </p:sp>
      <p:sp>
        <p:nvSpPr>
          <p:cNvPr id="11" name="Shape 9"/>
          <p:cNvSpPr/>
          <p:nvPr/>
        </p:nvSpPr>
        <p:spPr>
          <a:xfrm>
            <a:off x="7398693" y="1981200"/>
            <a:ext cx="9525" cy="5810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636818" y="2133600"/>
            <a:ext cx="44538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KF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175927" y="1981200"/>
            <a:ext cx="5159573" cy="581025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75927" y="2543175"/>
            <a:ext cx="5159573" cy="19050"/>
          </a:xfrm>
          <a:prstGeom prst="rect">
            <a:avLst/>
          </a:prstGeom>
          <a:solidFill>
            <a:srgbClr val="7A9E18"/>
          </a:solidFill>
          <a:ln/>
        </p:spPr>
      </p:sp>
      <p:sp>
        <p:nvSpPr>
          <p:cNvPr id="15" name="Text 13"/>
          <p:cNvSpPr/>
          <p:nvPr/>
        </p:nvSpPr>
        <p:spPr>
          <a:xfrm>
            <a:off x="12404527" y="2133600"/>
            <a:ext cx="48571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 Filter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3899297"/>
            <a:ext cx="16383000" cy="9525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" y="2562225"/>
            <a:ext cx="2171700" cy="1346597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" name="Text 16"/>
          <p:cNvSpPr/>
          <p:nvPr/>
        </p:nvSpPr>
        <p:spPr>
          <a:xfrm>
            <a:off x="1181100" y="2714625"/>
            <a:ext cx="1790700" cy="1079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52800" y="2714625"/>
            <a:ext cx="3945527" cy="1079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(μ, Σ)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98693" y="2562225"/>
            <a:ext cx="9525" cy="1346597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21" name="Text 19"/>
          <p:cNvSpPr/>
          <p:nvPr/>
        </p:nvSpPr>
        <p:spPr>
          <a:xfrm>
            <a:off x="7636818" y="2714625"/>
            <a:ext cx="4453826" cy="1079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(μ, Σ)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175927" y="2562225"/>
            <a:ext cx="9525" cy="1346597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23" name="Text 21"/>
          <p:cNvSpPr/>
          <p:nvPr/>
        </p:nvSpPr>
        <p:spPr>
          <a:xfrm>
            <a:off x="12414052" y="2714625"/>
            <a:ext cx="4847636" cy="1079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500 weighted particles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3908822"/>
            <a:ext cx="16383000" cy="2004864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25" name="Shape 23"/>
          <p:cNvSpPr/>
          <p:nvPr/>
        </p:nvSpPr>
        <p:spPr>
          <a:xfrm>
            <a:off x="952500" y="5904161"/>
            <a:ext cx="16383000" cy="9525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26" name="Shape 24"/>
          <p:cNvSpPr/>
          <p:nvPr/>
        </p:nvSpPr>
        <p:spPr>
          <a:xfrm>
            <a:off x="952500" y="3908822"/>
            <a:ext cx="2171700" cy="2004864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7" name="Text 25"/>
          <p:cNvSpPr/>
          <p:nvPr/>
        </p:nvSpPr>
        <p:spPr>
          <a:xfrm>
            <a:off x="1181100" y="4061222"/>
            <a:ext cx="1790700" cy="173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52800" y="4061222"/>
            <a:ext cx="3945527" cy="173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Linearized B matrix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cos/sin of θ — accepted approx.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398693" y="3908822"/>
            <a:ext cx="9525" cy="2004864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30" name="Text 28"/>
          <p:cNvSpPr/>
          <p:nvPr/>
        </p:nvSpPr>
        <p:spPr>
          <a:xfrm>
            <a:off x="7636818" y="4061222"/>
            <a:ext cx="4453826" cy="173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nonlinear g(u, μ)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Jacobian G — no linearization error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2175927" y="3908822"/>
            <a:ext cx="9525" cy="2004864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32" name="Text 30"/>
          <p:cNvSpPr/>
          <p:nvPr/>
        </p:nvSpPr>
        <p:spPr>
          <a:xfrm>
            <a:off x="12414052" y="4061222"/>
            <a:ext cx="4847636" cy="173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x_t^m ~ p(x_t | u_t, x_{t-1}^m)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noise on v, ω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952500" y="7909024"/>
            <a:ext cx="16383000" cy="9525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34" name="Shape 32"/>
          <p:cNvSpPr/>
          <p:nvPr/>
        </p:nvSpPr>
        <p:spPr>
          <a:xfrm>
            <a:off x="952500" y="5913686"/>
            <a:ext cx="2171700" cy="200486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5" name="Text 33"/>
          <p:cNvSpPr/>
          <p:nvPr/>
        </p:nvSpPr>
        <p:spPr>
          <a:xfrm>
            <a:off x="1181100" y="6066086"/>
            <a:ext cx="1790700" cy="173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352800" y="6066086"/>
            <a:ext cx="3945527" cy="173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= I₃ vs /odom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linearized landmark Jacobian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7398693" y="5913686"/>
            <a:ext cx="9525" cy="2004864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38" name="Text 36"/>
          <p:cNvSpPr/>
          <p:nvPr/>
        </p:nvSpPr>
        <p:spPr>
          <a:xfrm>
            <a:off x="7636818" y="6066086"/>
            <a:ext cx="4453826" cy="173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I₃ vs /odom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landmark Jacobian Hⱼ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2175927" y="5913686"/>
            <a:ext cx="9525" cy="2004864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40" name="Text 38"/>
          <p:cNvSpPr/>
          <p:nvPr/>
        </p:nvSpPr>
        <p:spPr>
          <a:xfrm>
            <a:off x="12414052" y="6066086"/>
            <a:ext cx="4847636" cy="173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 weights w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p(z | x^m); odom + landmark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952500" y="7918549"/>
            <a:ext cx="2171700" cy="1225451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2" name="Text 40"/>
          <p:cNvSpPr/>
          <p:nvPr/>
        </p:nvSpPr>
        <p:spPr>
          <a:xfrm>
            <a:off x="1181100" y="8070949"/>
            <a:ext cx="1790700" cy="958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352800" y="8070949"/>
            <a:ext cx="3945527" cy="958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Thrun Table 3.1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7398693" y="7918549"/>
            <a:ext cx="9525" cy="1225451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45" name="Text 43"/>
          <p:cNvSpPr/>
          <p:nvPr/>
        </p:nvSpPr>
        <p:spPr>
          <a:xfrm>
            <a:off x="7636818" y="8070949"/>
            <a:ext cx="4453826" cy="958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Thrun Table 3.3 / 7.2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12175927" y="7918549"/>
            <a:ext cx="9525" cy="1225451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47" name="Text 45"/>
          <p:cNvSpPr/>
          <p:nvPr/>
        </p:nvSpPr>
        <p:spPr>
          <a:xfrm>
            <a:off x="12414052" y="8070949"/>
            <a:ext cx="4847636" cy="958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Thrun Table 4.3 / 4.4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952500" y="93345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filters share the same landmark-based correction → differences come purely from prediction &amp; belief representation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52500" y="9744075"/>
            <a:ext cx="34475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PROLB_R — Special Task 2510331009</a:t>
            </a:r>
            <a:endParaRPr lang="en-US" sz="1425" dirty="0"/>
          </a:p>
        </p:txBody>
      </p:sp>
      <p:sp>
        <p:nvSpPr>
          <p:cNvPr id="50" name="Text 48"/>
          <p:cNvSpPr/>
          <p:nvPr/>
        </p:nvSpPr>
        <p:spPr>
          <a:xfrm>
            <a:off x="14341673" y="9744075"/>
            <a:ext cx="32932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Rainhard Wipp · FH Technikum Wien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06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Landmark-Based Correction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952500" y="1533525"/>
            <a:ext cx="457200" cy="28575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095500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1981200"/>
            <a:ext cx="1163555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landmark map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(landmark_map.hpp) for all three filters — identical correction input, fair comparison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52500" y="3114675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3000375"/>
            <a:ext cx="1163555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Range-only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model — expected bearing from pose estimate indexes into /scan for measured range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4133850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9" name="Text 7"/>
          <p:cNvSpPr/>
          <p:nvPr/>
        </p:nvSpPr>
        <p:spPr>
          <a:xfrm>
            <a:off x="1276350" y="4019550"/>
            <a:ext cx="922429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Gating: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|r_meas − r_exp| ≤ 0.30 m accepted as valid; σ_r = 0.12 m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4738688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11" name="Text 9"/>
          <p:cNvSpPr/>
          <p:nvPr/>
        </p:nvSpPr>
        <p:spPr>
          <a:xfrm>
            <a:off x="1276350" y="4624388"/>
            <a:ext cx="1163555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Two-stage correction: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full-state update vs /odom, then (2) sequential 1D range update per visible landmark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3335000" y="1981200"/>
            <a:ext cx="4000500" cy="169545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13335000" y="1981200"/>
            <a:ext cx="38100" cy="1695450"/>
          </a:xfrm>
          <a:prstGeom prst="rect">
            <a:avLst/>
          </a:prstGeom>
          <a:solidFill>
            <a:srgbClr val="00649C"/>
          </a:solidFill>
          <a:ln/>
        </p:spPr>
      </p:sp>
      <p:sp>
        <p:nvSpPr>
          <p:cNvPr id="14" name="Text 12"/>
          <p:cNvSpPr/>
          <p:nvPr/>
        </p:nvSpPr>
        <p:spPr>
          <a:xfrm>
            <a:off x="13639800" y="2209800"/>
            <a:ext cx="3771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model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639800" y="2590800"/>
            <a:ext cx="353187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h(μ, mⱼ) = ‖mⱼ − [x, y]‖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3335000" y="3867150"/>
            <a:ext cx="4000500" cy="166092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" name="Shape 15"/>
          <p:cNvSpPr/>
          <p:nvPr/>
        </p:nvSpPr>
        <p:spPr>
          <a:xfrm>
            <a:off x="13335000" y="3867150"/>
            <a:ext cx="38100" cy="1660922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18" name="Text 16"/>
          <p:cNvSpPr/>
          <p:nvPr/>
        </p:nvSpPr>
        <p:spPr>
          <a:xfrm>
            <a:off x="13639800" y="4095750"/>
            <a:ext cx="3771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&amp; noise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639800" y="4476750"/>
            <a:ext cx="3531870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LM_GATE_M = 0.30 m LM_SIGMA_R = 0.12 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2500" y="9744075"/>
            <a:ext cx="34475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PROLB_R — Special Task 2510331009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4341673" y="9744075"/>
            <a:ext cx="32932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Rainhard Wipp · FH Technikum Wien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06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Setup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952500" y="1533525"/>
            <a:ext cx="457200" cy="28575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095500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1981200"/>
            <a:ext cx="898462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 pose: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(−1.96, −0.5, 0°)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map frame = odom origin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52500" y="2709863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2595563"/>
            <a:ext cx="1176361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AutoNav drives a fixed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8-waypoint loop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4 unique positions — ~3.6 m diameter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3314700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9" name="Text 7"/>
          <p:cNvSpPr/>
          <p:nvPr/>
        </p:nvSpPr>
        <p:spPr>
          <a:xfrm>
            <a:off x="1276350" y="3200400"/>
            <a:ext cx="1107308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 proxy: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/odom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(Gazebo) — same caveat applies equally to all filters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3929063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11" name="Text 9"/>
          <p:cNvSpPr/>
          <p:nvPr/>
        </p:nvSpPr>
        <p:spPr>
          <a:xfrm>
            <a:off x="1276350" y="3814763"/>
            <a:ext cx="1055673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route, timing, and sensor stream fed to KF, EKF, and PF on every run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763500" y="1981200"/>
            <a:ext cx="4572000" cy="233362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12763500" y="1981200"/>
            <a:ext cx="4572000" cy="28575"/>
          </a:xfrm>
          <a:prstGeom prst="rect">
            <a:avLst/>
          </a:prstGeom>
          <a:solidFill>
            <a:srgbClr val="00649C"/>
          </a:solidFill>
          <a:ln/>
        </p:spPr>
      </p:sp>
      <p:sp>
        <p:nvSpPr>
          <p:cNvPr id="14" name="Text 12"/>
          <p:cNvSpPr/>
          <p:nvPr/>
        </p:nvSpPr>
        <p:spPr>
          <a:xfrm>
            <a:off x="13030200" y="2276475"/>
            <a:ext cx="44424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5" kern="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WAYPOINTS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030200" y="2733675"/>
            <a:ext cx="19812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WP1/6 N ( 0.0, 1.8)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163800" y="2733675"/>
            <a:ext cx="19812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WP2/5/8 W (−1.8, 0.0)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030200" y="3438525"/>
            <a:ext cx="19812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WP3/7 S ( 0.0, −1.8)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163800" y="3438525"/>
            <a:ext cx="19812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WP4 E ( 1.8, 0.0)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763500" y="4467225"/>
            <a:ext cx="4572000" cy="214312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0" name="Shape 18"/>
          <p:cNvSpPr/>
          <p:nvPr/>
        </p:nvSpPr>
        <p:spPr>
          <a:xfrm>
            <a:off x="12763500" y="4467225"/>
            <a:ext cx="4572000" cy="28575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21" name="Text 19"/>
          <p:cNvSpPr/>
          <p:nvPr/>
        </p:nvSpPr>
        <p:spPr>
          <a:xfrm>
            <a:off x="13030200" y="4762500"/>
            <a:ext cx="44424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5" kern="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PARAMETERS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030200" y="5219700"/>
            <a:ext cx="120729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σ_process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520071" y="5219700"/>
            <a:ext cx="62492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030200" y="5629275"/>
            <a:ext cx="9337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σ_meas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520071" y="5629275"/>
            <a:ext cx="62492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030200" y="6038850"/>
            <a:ext cx="16921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num_particles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657290" y="6038850"/>
            <a:ext cx="4877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2500" y="9744075"/>
            <a:ext cx="34475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PROLB_R — Special Task 2510331009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4341673" y="9744075"/>
            <a:ext cx="32932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Rainhard Wipp · FH Technikum Wien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RViz2 Visualization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952500" y="1533525"/>
            <a:ext cx="457200" cy="28575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771775"/>
            <a:ext cx="6342459" cy="5924550"/>
          </a:xfrm>
          <a:prstGeom prst="rect">
            <a:avLst/>
          </a:prstGeom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1" b="-11"/>
          <a:stretch/>
        </p:blipFill>
        <p:spPr>
          <a:xfrm>
            <a:off x="952500" y="2771775"/>
            <a:ext cx="6342459" cy="59245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28359" y="3981450"/>
            <a:ext cx="114300" cy="1143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" name="Text 4"/>
          <p:cNvSpPr/>
          <p:nvPr/>
        </p:nvSpPr>
        <p:spPr>
          <a:xfrm>
            <a:off x="8133159" y="3905250"/>
            <a:ext cx="51940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 cloud — PF belief distribution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7828359" y="4610100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8133159" y="4533900"/>
            <a:ext cx="256207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scan returns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7828359" y="5238750"/>
            <a:ext cx="114300" cy="1143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Text 8"/>
          <p:cNvSpPr/>
          <p:nvPr/>
        </p:nvSpPr>
        <p:spPr>
          <a:xfrm>
            <a:off x="8133159" y="5162550"/>
            <a:ext cx="494914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 markers (yellow spheres)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7828359" y="5867400"/>
            <a:ext cx="114300" cy="114300"/>
          </a:xfrm>
          <a:prstGeom prst="rect">
            <a:avLst/>
          </a:prstGeom>
          <a:solidFill>
            <a:srgbClr val="66A2C4"/>
          </a:solidFill>
          <a:ln/>
        </p:spPr>
      </p:sp>
      <p:sp>
        <p:nvSpPr>
          <p:cNvPr id="13" name="Text 10"/>
          <p:cNvSpPr/>
          <p:nvPr/>
        </p:nvSpPr>
        <p:spPr>
          <a:xfrm>
            <a:off x="8133159" y="5791200"/>
            <a:ext cx="58305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estimate arrow + costmap boundary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7828359" y="6534150"/>
            <a:ext cx="9507141" cy="10287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7828359" y="6534150"/>
            <a:ext cx="28575" cy="1028700"/>
          </a:xfrm>
          <a:prstGeom prst="rect">
            <a:avLst/>
          </a:prstGeom>
          <a:solidFill>
            <a:srgbClr val="8BB31D">
              <a:alpha val="4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8085534" y="6705600"/>
            <a:ext cx="93065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Captured during exploratory run — included to satisfy the RViz2 visualization requirement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52500" y="9744075"/>
            <a:ext cx="34475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PROLB_R — Special Task 2510331009</a:t>
            </a:r>
            <a:endParaRPr lang="en-US" sz="1425" dirty="0"/>
          </a:p>
        </p:txBody>
      </p:sp>
      <p:sp>
        <p:nvSpPr>
          <p:cNvPr id="18" name="Text 15"/>
          <p:cNvSpPr/>
          <p:nvPr/>
        </p:nvSpPr>
        <p:spPr>
          <a:xfrm>
            <a:off x="14341673" y="9744075"/>
            <a:ext cx="32932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Rainhard Wipp · FH Technikum Wien</a:t>
            </a:r>
            <a:endParaRPr lang="en-US" sz="14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06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Filter Comparison (Resampling ON)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952500" y="1533525"/>
            <a:ext cx="457200" cy="28575"/>
          </a:xfrm>
          <a:prstGeom prst="rect">
            <a:avLst/>
          </a:prstGeom>
          <a:solidFill>
            <a:srgbClr val="8BB31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952500" y="1866900"/>
            <a:ext cx="5246936" cy="666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56636" y="2019300"/>
            <a:ext cx="10678864" cy="113347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Shape 3"/>
          <p:cNvSpPr/>
          <p:nvPr/>
        </p:nvSpPr>
        <p:spPr>
          <a:xfrm>
            <a:off x="6656636" y="2019300"/>
            <a:ext cx="38100" cy="1133475"/>
          </a:xfrm>
          <a:prstGeom prst="rect">
            <a:avLst/>
          </a:prstGeom>
          <a:solidFill>
            <a:srgbClr val="00649C"/>
          </a:solidFill>
          <a:ln/>
        </p:spPr>
      </p:sp>
      <p:sp>
        <p:nvSpPr>
          <p:cNvPr id="7" name="Text 4"/>
          <p:cNvSpPr/>
          <p:nvPr/>
        </p:nvSpPr>
        <p:spPr>
          <a:xfrm>
            <a:off x="6923336" y="2209800"/>
            <a:ext cx="112019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vs /odom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923336" y="2590800"/>
            <a:ext cx="18758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 = </a:t>
            </a:r>
            <a:pPr algn="l" indent="0" marL="0"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0.047 m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8933408" y="2590800"/>
            <a:ext cx="197075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EKF = </a:t>
            </a:r>
            <a:pPr algn="l" indent="0" marL="0"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0.047 m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1029801" y="2590800"/>
            <a:ext cx="187481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 = </a:t>
            </a:r>
            <a:pPr algn="l" indent="0" marL="0"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0.047 m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6656636" y="3438525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12" name="Text 9"/>
          <p:cNvSpPr/>
          <p:nvPr/>
        </p:nvSpPr>
        <p:spPr>
          <a:xfrm>
            <a:off x="6942386" y="3343275"/>
            <a:ext cx="1076284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trajectories closely overlap with /odom ground truth across the full 8-waypoint loop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656636" y="3949005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14" name="Text 11"/>
          <p:cNvSpPr/>
          <p:nvPr/>
        </p:nvSpPr>
        <p:spPr>
          <a:xfrm>
            <a:off x="6942386" y="3853755"/>
            <a:ext cx="1070490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 covariance trace visibly lower — particle-based estimate tends to underestimate once particles cluster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656636" y="4779466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16" name="Text 13"/>
          <p:cNvSpPr/>
          <p:nvPr/>
        </p:nvSpPr>
        <p:spPr>
          <a:xfrm>
            <a:off x="6942386" y="4684216"/>
            <a:ext cx="749141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N_eff/N ≈ 1.0 throughout — healthy particle diversity maintained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52500" y="9744075"/>
            <a:ext cx="34475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PROLB_R — Special Task 2510331009</a:t>
            </a:r>
            <a:endParaRPr lang="en-US" sz="1425" dirty="0"/>
          </a:p>
        </p:txBody>
      </p:sp>
      <p:sp>
        <p:nvSpPr>
          <p:cNvPr id="18" name="Text 15"/>
          <p:cNvSpPr/>
          <p:nvPr/>
        </p:nvSpPr>
        <p:spPr>
          <a:xfrm>
            <a:off x="14341673" y="9744075"/>
            <a:ext cx="32932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Rainhard Wipp · FH Technikum Wien</a:t>
            </a:r>
            <a:endParaRPr lang="en-US" sz="14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06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/ R Sensitivity Study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952500" y="1533525"/>
            <a:ext cx="457200" cy="28575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3662362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3548063"/>
            <a:ext cx="1367706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Vary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noise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(Q, model confidence) and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noise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(R, sensor trust) independently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52500" y="4267200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4152900"/>
            <a:ext cx="1505338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runs total: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+ low/high σ_process + low/high σ_meas — same route and landmark map throughout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4872038"/>
            <a:ext cx="16383000" cy="476250"/>
          </a:xfrm>
          <a:prstGeom prst="rect">
            <a:avLst/>
          </a:prstGeom>
          <a:solidFill>
            <a:srgbClr val="00649C"/>
          </a:solidFill>
          <a:ln/>
        </p:spPr>
      </p:sp>
      <p:sp>
        <p:nvSpPr>
          <p:cNvPr id="9" name="Text 7"/>
          <p:cNvSpPr/>
          <p:nvPr/>
        </p:nvSpPr>
        <p:spPr>
          <a:xfrm>
            <a:off x="1104900" y="4976813"/>
            <a:ext cx="73399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53278" y="4976813"/>
            <a:ext cx="47546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σ_process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378298" y="4976813"/>
            <a:ext cx="3865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σ_meas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" y="5857875"/>
            <a:ext cx="16383000" cy="9525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13" name="Text 11"/>
          <p:cNvSpPr/>
          <p:nvPr/>
        </p:nvSpPr>
        <p:spPr>
          <a:xfrm>
            <a:off x="1104900" y="5453062"/>
            <a:ext cx="733992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53278" y="5453062"/>
            <a:ext cx="47546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378298" y="5453062"/>
            <a:ext cx="386553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5867400"/>
            <a:ext cx="16383000" cy="523875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" y="6381750"/>
            <a:ext cx="16383000" cy="9525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" y="5972175"/>
            <a:ext cx="73399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proc. noise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53278" y="5972175"/>
            <a:ext cx="475463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B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378298" y="5972175"/>
            <a:ext cx="386553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52500" y="6905625"/>
            <a:ext cx="16383000" cy="9525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22" name="Text 20"/>
          <p:cNvSpPr/>
          <p:nvPr/>
        </p:nvSpPr>
        <p:spPr>
          <a:xfrm>
            <a:off x="1104900" y="6496050"/>
            <a:ext cx="73399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proc. noise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53278" y="6496050"/>
            <a:ext cx="475463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378298" y="6496050"/>
            <a:ext cx="386553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52500" y="6915150"/>
            <a:ext cx="16383000" cy="523875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26" name="Shape 24"/>
          <p:cNvSpPr/>
          <p:nvPr/>
        </p:nvSpPr>
        <p:spPr>
          <a:xfrm>
            <a:off x="952500" y="7429500"/>
            <a:ext cx="16383000" cy="9525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27" name="Text 25"/>
          <p:cNvSpPr/>
          <p:nvPr/>
        </p:nvSpPr>
        <p:spPr>
          <a:xfrm>
            <a:off x="1104900" y="7019925"/>
            <a:ext cx="73399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meas. noise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453278" y="7019925"/>
            <a:ext cx="475463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378298" y="7019925"/>
            <a:ext cx="386553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B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04900" y="7543800"/>
            <a:ext cx="733992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meas. noise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453278" y="7543800"/>
            <a:ext cx="47546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378298" y="7543800"/>
            <a:ext cx="386553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52500" y="9744075"/>
            <a:ext cx="34475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PROLB_R — Special Task 2510331009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14341673" y="9744075"/>
            <a:ext cx="32932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Rainhard Wipp · FH Technikum Wien</a:t>
            </a:r>
            <a:endParaRPr lang="en-US" sz="14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06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/ R Results — Trajectories · RMSE · Covariance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952500" y="1533525"/>
            <a:ext cx="457200" cy="28575"/>
          </a:xfrm>
          <a:prstGeom prst="rect">
            <a:avLst/>
          </a:prstGeom>
          <a:solidFill>
            <a:srgbClr val="8BB31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3588841" y="1952625"/>
            <a:ext cx="11110317" cy="75246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2500" y="9744075"/>
            <a:ext cx="34475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PROLB_R — Special Task 2510331009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4341673" y="9744075"/>
            <a:ext cx="32932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Rainhard Wipp · FH Technikum Wien</a:t>
            </a:r>
            <a:endParaRPr lang="en-US" sz="14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06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/ R Sensitivity — Summary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952500" y="1533525"/>
            <a:ext cx="457200" cy="28575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1866900"/>
            <a:ext cx="10972800" cy="476250"/>
          </a:xfrm>
          <a:prstGeom prst="rect">
            <a:avLst/>
          </a:prstGeom>
          <a:solidFill>
            <a:srgbClr val="00649C"/>
          </a:solidFill>
          <a:ln/>
        </p:spPr>
      </p:sp>
      <p:sp>
        <p:nvSpPr>
          <p:cNvPr id="5" name="Text 3"/>
          <p:cNvSpPr/>
          <p:nvPr/>
        </p:nvSpPr>
        <p:spPr>
          <a:xfrm>
            <a:off x="1104900" y="1981200"/>
            <a:ext cx="279861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079825" y="1981200"/>
            <a:ext cx="135344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σ_proc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661868" y="1981200"/>
            <a:ext cx="15263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σ_meas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416850" y="1981200"/>
            <a:ext cx="13120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957518" y="1981200"/>
            <a:ext cx="13120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EKF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498187" y="1981200"/>
            <a:ext cx="13128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52500" y="2843213"/>
            <a:ext cx="10972800" cy="9525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12" name="Text 10"/>
          <p:cNvSpPr/>
          <p:nvPr/>
        </p:nvSpPr>
        <p:spPr>
          <a:xfrm>
            <a:off x="1104900" y="2457450"/>
            <a:ext cx="279861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079825" y="2457450"/>
            <a:ext cx="135344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661868" y="2457450"/>
            <a:ext cx="152638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416850" y="2457450"/>
            <a:ext cx="131206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0.047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957518" y="2457450"/>
            <a:ext cx="131206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0.047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498187" y="2457450"/>
            <a:ext cx="131281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0.047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52500" y="2852738"/>
            <a:ext cx="10972800" cy="5334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19" name="Shape 17"/>
          <p:cNvSpPr/>
          <p:nvPr/>
        </p:nvSpPr>
        <p:spPr>
          <a:xfrm>
            <a:off x="952500" y="3376613"/>
            <a:ext cx="10972800" cy="9525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20" name="Text 18"/>
          <p:cNvSpPr/>
          <p:nvPr/>
        </p:nvSpPr>
        <p:spPr>
          <a:xfrm>
            <a:off x="1104900" y="2967038"/>
            <a:ext cx="27986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σ_process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079825" y="2967038"/>
            <a:ext cx="13534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BB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0.001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661868" y="2967038"/>
            <a:ext cx="15263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416850" y="2967038"/>
            <a:ext cx="131206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0.039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957518" y="2967038"/>
            <a:ext cx="131206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0.037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0498187" y="2967038"/>
            <a:ext cx="13128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0.036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952500" y="3910013"/>
            <a:ext cx="10972800" cy="9525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27" name="Text 25"/>
          <p:cNvSpPr/>
          <p:nvPr/>
        </p:nvSpPr>
        <p:spPr>
          <a:xfrm>
            <a:off x="1104900" y="3500438"/>
            <a:ext cx="27986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σ_process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4079825" y="3500438"/>
            <a:ext cx="13534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5661868" y="3500438"/>
            <a:ext cx="15263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7416850" y="3500438"/>
            <a:ext cx="131206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0.045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8957518" y="3500438"/>
            <a:ext cx="131206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0.045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0498187" y="3500438"/>
            <a:ext cx="13128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0.041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952500" y="3919537"/>
            <a:ext cx="10972800" cy="5334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4" name="Shape 32"/>
          <p:cNvSpPr/>
          <p:nvPr/>
        </p:nvSpPr>
        <p:spPr>
          <a:xfrm>
            <a:off x="952500" y="4443413"/>
            <a:ext cx="10972800" cy="9525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35" name="Text 33"/>
          <p:cNvSpPr/>
          <p:nvPr/>
        </p:nvSpPr>
        <p:spPr>
          <a:xfrm>
            <a:off x="1104900" y="4033837"/>
            <a:ext cx="27986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σ_meas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4079825" y="4033837"/>
            <a:ext cx="13534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5661868" y="4033837"/>
            <a:ext cx="15263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BB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7416850" y="4033837"/>
            <a:ext cx="131206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0.006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8957518" y="4033837"/>
            <a:ext cx="131206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0.006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0498187" y="4033837"/>
            <a:ext cx="13128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0.046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104900" y="4567238"/>
            <a:ext cx="279861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σ_meas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4079825" y="4567238"/>
            <a:ext cx="135344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5661868" y="4567238"/>
            <a:ext cx="152638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7416850" y="4567238"/>
            <a:ext cx="131206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0.073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8957518" y="4567238"/>
            <a:ext cx="131206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0.069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0498187" y="4567238"/>
            <a:ext cx="131281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B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0.028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952500" y="5257800"/>
            <a:ext cx="76200" cy="7620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48" name="Text 46"/>
          <p:cNvSpPr/>
          <p:nvPr/>
        </p:nvSpPr>
        <p:spPr>
          <a:xfrm>
            <a:off x="1200150" y="5172075"/>
            <a:ext cx="11572071" cy="327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σ_meas=0.01: </a:t>
            </a:r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KF/EKF RMSE collapses to 0.006 m — circularity artifact (filter trusts /odom almost unconditionally)</a:t>
            </a:r>
            <a:endParaRPr lang="en-US" sz="1575" dirty="0"/>
          </a:p>
        </p:txBody>
      </p:sp>
      <p:sp>
        <p:nvSpPr>
          <p:cNvPr id="49" name="Shape 47"/>
          <p:cNvSpPr/>
          <p:nvPr/>
        </p:nvSpPr>
        <p:spPr>
          <a:xfrm>
            <a:off x="952500" y="5661571"/>
            <a:ext cx="76200" cy="7620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50" name="Text 48"/>
          <p:cNvSpPr/>
          <p:nvPr/>
        </p:nvSpPr>
        <p:spPr>
          <a:xfrm>
            <a:off x="1200150" y="5575846"/>
            <a:ext cx="11046905" cy="607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σ_meas=0.5: </a:t>
            </a:r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KF/EKF rise to ~0.07 m; PF stays at 0.028 m — non-parametric PF is more robust to high measurement uncertainty</a:t>
            </a:r>
            <a:endParaRPr lang="en-US" sz="1575" dirty="0"/>
          </a:p>
        </p:txBody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382500" y="1905000"/>
            <a:ext cx="4953000" cy="1708547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952500" y="9744075"/>
            <a:ext cx="34475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PROLB_R — Special Task 2510331009</a:t>
            </a:r>
            <a:endParaRPr lang="en-US" sz="1425" dirty="0"/>
          </a:p>
        </p:txBody>
      </p:sp>
      <p:sp>
        <p:nvSpPr>
          <p:cNvPr id="53" name="Text 50"/>
          <p:cNvSpPr/>
          <p:nvPr/>
        </p:nvSpPr>
        <p:spPr>
          <a:xfrm>
            <a:off x="14341673" y="9744075"/>
            <a:ext cx="32932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Rainhard Wipp · FH Technikum Wien</a:t>
            </a:r>
            <a:endParaRPr lang="en-US" sz="14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3249960"/>
            <a:ext cx="571500" cy="38100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74526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TASK 2510331009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52500" y="4183410"/>
            <a:ext cx="1079182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Disabling PF Resampling &amp; Analyzing Particle Degeneration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952500" y="6198840"/>
            <a:ext cx="882967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25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to particle diversity and filter robustness when low-weight particles are never replaced?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06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Task: Definition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952500" y="1533525"/>
            <a:ext cx="457200" cy="28575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095500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1981200"/>
            <a:ext cx="1143933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2510331009: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"Run the PF with reduced or no resampling" — implemented as a full on/off toggle via ROS 2 parameter (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resampling:=false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52500" y="3124200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3009900"/>
            <a:ext cx="1143933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Resampling is the textbook mechanism that prevents the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degeneracy problem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Sequential Importance Sampling (SIR) filters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4143375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9" name="Text 7"/>
          <p:cNvSpPr/>
          <p:nvPr/>
        </p:nvSpPr>
        <p:spPr>
          <a:xfrm>
            <a:off x="1276350" y="4029075"/>
            <a:ext cx="1143933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it, all probability mass is expected to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 on a single particle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weight collapse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3144500" y="1981200"/>
            <a:ext cx="4191000" cy="309562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1" name="Shape 9"/>
          <p:cNvSpPr/>
          <p:nvPr/>
        </p:nvSpPr>
        <p:spPr>
          <a:xfrm>
            <a:off x="13144500" y="1981200"/>
            <a:ext cx="38100" cy="3095625"/>
          </a:xfrm>
          <a:prstGeom prst="rect">
            <a:avLst/>
          </a:prstGeom>
          <a:solidFill>
            <a:srgbClr val="00649C"/>
          </a:solidFill>
          <a:ln/>
        </p:spPr>
      </p:sp>
      <p:sp>
        <p:nvSpPr>
          <p:cNvPr id="12" name="Text 10"/>
          <p:cNvSpPr/>
          <p:nvPr/>
        </p:nvSpPr>
        <p:spPr>
          <a:xfrm>
            <a:off x="13487400" y="2247900"/>
            <a:ext cx="38976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487400" y="2667000"/>
            <a:ext cx="3649599" cy="2181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i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happens to particle diversity and filter robustness when low-weight particles are never replaced?"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52500" y="9744075"/>
            <a:ext cx="34475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PROLB_R — Special Task 2510331009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4341673" y="9744075"/>
            <a:ext cx="32932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Rainhard Wipp · FH Technikum Wien</a:t>
            </a:r>
            <a:endParaRPr lang="en-US" sz="14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06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Resampling (Thrun Table 4.4)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952500" y="1533525"/>
            <a:ext cx="457200" cy="28575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019300"/>
            <a:ext cx="304800" cy="304800"/>
          </a:xfrm>
          <a:prstGeom prst="ellipse">
            <a:avLst/>
          </a:prstGeom>
          <a:solidFill>
            <a:srgbClr val="00649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930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485900" y="1981200"/>
            <a:ext cx="714336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cumulative weight sum over all N particles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52500" y="2624138"/>
            <a:ext cx="304800" cy="304800"/>
          </a:xfrm>
          <a:prstGeom prst="ellipse">
            <a:avLst/>
          </a:prstGeom>
          <a:solidFill>
            <a:srgbClr val="00649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24138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85900" y="2586038"/>
            <a:ext cx="6425818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 single random offset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~ U[0, 1/N)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3238500"/>
            <a:ext cx="304800" cy="304800"/>
          </a:xfrm>
          <a:prstGeom prst="ellipse">
            <a:avLst/>
          </a:prstGeom>
          <a:solidFill>
            <a:srgbClr val="00649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3850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85900" y="3200400"/>
            <a:ext cx="8677498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 = 0..N−1: pick the particle at cumulative position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+ i/N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52500" y="3890962"/>
            <a:ext cx="11811000" cy="10668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952500" y="3890962"/>
            <a:ext cx="38100" cy="1066800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15" name="Text 13"/>
          <p:cNvSpPr/>
          <p:nvPr/>
        </p:nvSpPr>
        <p:spPr>
          <a:xfrm>
            <a:off x="1257300" y="4081462"/>
            <a:ext cx="1159383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A7E"/>
                </a:solidFill>
                <a:highlight>
                  <a:srgbClr val="F4F6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high-weight particles duplicated; low-weight dropped; all weights reset to 1/N — O(N), low-variance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5262563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17" name="Text 15"/>
          <p:cNvSpPr/>
          <p:nvPr/>
        </p:nvSpPr>
        <p:spPr>
          <a:xfrm>
            <a:off x="1276350" y="5148263"/>
            <a:ext cx="8498398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every correction step when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resampling = true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3525500" y="1981200"/>
            <a:ext cx="3810000" cy="3432721"/>
          </a:xfrm>
          <a:prstGeom prst="rect">
            <a:avLst/>
          </a:prstGeom>
          <a:solidFill>
            <a:srgbClr val="18243A"/>
          </a:solidFill>
          <a:ln/>
        </p:spPr>
      </p:sp>
      <p:sp>
        <p:nvSpPr>
          <p:cNvPr id="19" name="Text 17"/>
          <p:cNvSpPr/>
          <p:nvPr/>
        </p:nvSpPr>
        <p:spPr>
          <a:xfrm>
            <a:off x="13830300" y="2247900"/>
            <a:ext cx="3296412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dirty="0">
                <a:solidFill>
                  <a:srgbClr val="8BB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Thrun (2006) Table 4.4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830300" y="2651671"/>
            <a:ext cx="329641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c[1] = w[1]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830300" y="2994571"/>
            <a:ext cx="329641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2..N: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020800" y="3337471"/>
            <a:ext cx="310019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c[i] = c[i-1] + w[i]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830300" y="3775621"/>
            <a:ext cx="329641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~ U[0, 1/N)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830300" y="4118521"/>
            <a:ext cx="329641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1..N: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020800" y="4461421"/>
            <a:ext cx="310019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= r + (i-1)/N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020800" y="4804321"/>
            <a:ext cx="310019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j: c[j] ≥ u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52500" y="9744075"/>
            <a:ext cx="34475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PROLB_R — Special Task 2510331009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14341673" y="9744075"/>
            <a:ext cx="32932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Rainhard Wipp · FH Technikum Wien</a:t>
            </a:r>
            <a:endParaRPr lang="en-US" sz="14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06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 Degeneration &amp; N_eff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952500" y="1533525"/>
            <a:ext cx="457200" cy="28575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095500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1981200"/>
            <a:ext cx="1104690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resampling, particle weights are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multiplied — never reset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diverge monotonically over time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52500" y="3114675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3000375"/>
            <a:ext cx="1104690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Particles with even slightly lower likelihood are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exponentially suppressed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never replaced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4133850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9" name="Text 7"/>
          <p:cNvSpPr/>
          <p:nvPr/>
        </p:nvSpPr>
        <p:spPr>
          <a:xfrm>
            <a:off x="1276350" y="4019550"/>
            <a:ext cx="1104690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N_eff computed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resampling decision → reflects true particle health regardless of whether resampling runs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763500" y="1981200"/>
            <a:ext cx="4572000" cy="2057400"/>
          </a:xfrm>
          <a:prstGeom prst="rect">
            <a:avLst/>
          </a:prstGeom>
          <a:solidFill>
            <a:srgbClr val="18243A"/>
          </a:solidFill>
          <a:ln/>
        </p:spPr>
      </p:sp>
      <p:sp>
        <p:nvSpPr>
          <p:cNvPr id="11" name="Text 9"/>
          <p:cNvSpPr/>
          <p:nvPr/>
        </p:nvSpPr>
        <p:spPr>
          <a:xfrm>
            <a:off x="13087350" y="2286000"/>
            <a:ext cx="39243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N_eff = 1 / Σ wᵢ²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954000" y="3371850"/>
            <a:ext cx="4191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A0AE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∈ [1, N]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2763500" y="4229100"/>
            <a:ext cx="4572000" cy="150495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763500" y="4229100"/>
            <a:ext cx="38100" cy="1504950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15" name="Text 13"/>
          <p:cNvSpPr/>
          <p:nvPr/>
        </p:nvSpPr>
        <p:spPr>
          <a:xfrm>
            <a:off x="13068300" y="4457700"/>
            <a:ext cx="13453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N_eff → 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731157" y="4476750"/>
            <a:ext cx="25714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 weights (ideal)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068300" y="4895850"/>
            <a:ext cx="93717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N_eff → 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929271" y="4933950"/>
            <a:ext cx="323371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particle dominates (full degeneration)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2500" y="9744075"/>
            <a:ext cx="34475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PROLB_R — Special Task 2510331009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4341673" y="9744075"/>
            <a:ext cx="32932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Rainhard Wipp · FH Technikum Wien</a:t>
            </a:r>
            <a:endParaRPr lang="en-US" sz="14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06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Task — Experiment Design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952500" y="1533525"/>
            <a:ext cx="457200" cy="28575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095500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1981200"/>
            <a:ext cx="1081144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full runs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identical 8-waypoint route: Resampling ON (baseline) vs. OFF (Special Task)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52500" y="3114675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3000375"/>
            <a:ext cx="1022407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Q/R defaults, landmark map, and N = 500 particles for both runs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3719512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9" name="Text 7"/>
          <p:cNvSpPr/>
          <p:nvPr/>
        </p:nvSpPr>
        <p:spPr>
          <a:xfrm>
            <a:off x="1276350" y="3605213"/>
            <a:ext cx="10811446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/n_eff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/pose_pf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throughout by data_logger — timestamped CSV per run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4748213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11" name="Text 9"/>
          <p:cNvSpPr/>
          <p:nvPr/>
        </p:nvSpPr>
        <p:spPr>
          <a:xfrm>
            <a:off x="1276350" y="4633913"/>
            <a:ext cx="10811446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via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plot_n_eff.py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N_eff/N over time + cumulative RMSE, both runs overlaid on the same axes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382500" y="1981200"/>
            <a:ext cx="4953000" cy="162877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12382500" y="1981200"/>
            <a:ext cx="4953000" cy="28575"/>
          </a:xfrm>
          <a:prstGeom prst="rect">
            <a:avLst/>
          </a:prstGeom>
          <a:solidFill>
            <a:srgbClr val="00649C"/>
          </a:solidFill>
          <a:ln/>
        </p:spPr>
      </p:sp>
      <p:sp>
        <p:nvSpPr>
          <p:cNvPr id="14" name="Text 12"/>
          <p:cNvSpPr/>
          <p:nvPr/>
        </p:nvSpPr>
        <p:spPr>
          <a:xfrm>
            <a:off x="12649200" y="2238375"/>
            <a:ext cx="48615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Resampling ON (baseline)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649200" y="2638425"/>
            <a:ext cx="4419600" cy="742950"/>
          </a:xfrm>
          <a:prstGeom prst="rect">
            <a:avLst/>
          </a:prstGeom>
          <a:solidFill>
            <a:srgbClr val="18243A"/>
          </a:solidFill>
          <a:ln/>
        </p:spPr>
      </p:sp>
      <p:sp>
        <p:nvSpPr>
          <p:cNvPr id="16" name="Text 14"/>
          <p:cNvSpPr/>
          <p:nvPr/>
        </p:nvSpPr>
        <p:spPr>
          <a:xfrm>
            <a:off x="12820650" y="2752725"/>
            <a:ext cx="420928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B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./run_experiments.sh --with-resampling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2382500" y="3762375"/>
            <a:ext cx="4953000" cy="162877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12382500" y="3762375"/>
            <a:ext cx="4953000" cy="28575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19" name="Text 17"/>
          <p:cNvSpPr/>
          <p:nvPr/>
        </p:nvSpPr>
        <p:spPr>
          <a:xfrm>
            <a:off x="12649200" y="4019550"/>
            <a:ext cx="48615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Resampling OFF (Special Task)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649200" y="4419600"/>
            <a:ext cx="4419600" cy="742950"/>
          </a:xfrm>
          <a:prstGeom prst="rect">
            <a:avLst/>
          </a:prstGeom>
          <a:solidFill>
            <a:srgbClr val="18243A"/>
          </a:solidFill>
          <a:ln/>
        </p:spPr>
      </p:sp>
      <p:sp>
        <p:nvSpPr>
          <p:cNvPr id="21" name="Text 19"/>
          <p:cNvSpPr/>
          <p:nvPr/>
        </p:nvSpPr>
        <p:spPr>
          <a:xfrm>
            <a:off x="12820650" y="4533900"/>
            <a:ext cx="420928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B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./run_experiments.sh --without-resampling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2500" y="9744075"/>
            <a:ext cx="34475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PROLB_R — Special Task 2510331009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4341673" y="9744075"/>
            <a:ext cx="32932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Rainhard Wipp · FH Technikum Wien</a:t>
            </a:r>
            <a:endParaRPr lang="en-US" sz="14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06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N_eff Collapse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952500" y="1533525"/>
            <a:ext cx="457200" cy="28575"/>
          </a:xfrm>
          <a:prstGeom prst="rect">
            <a:avLst/>
          </a:prstGeom>
          <a:solidFill>
            <a:srgbClr val="8BB31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952500" y="1828800"/>
            <a:ext cx="11101834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511534" y="1828800"/>
            <a:ext cx="4823966" cy="1683841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Shape 3"/>
          <p:cNvSpPr/>
          <p:nvPr/>
        </p:nvSpPr>
        <p:spPr>
          <a:xfrm>
            <a:off x="12511534" y="1828800"/>
            <a:ext cx="38100" cy="1683841"/>
          </a:xfrm>
          <a:prstGeom prst="rect">
            <a:avLst/>
          </a:prstGeom>
          <a:solidFill>
            <a:srgbClr val="00649C"/>
          </a:solidFill>
          <a:ln/>
        </p:spPr>
      </p:sp>
      <p:sp>
        <p:nvSpPr>
          <p:cNvPr id="7" name="Text 4"/>
          <p:cNvSpPr/>
          <p:nvPr/>
        </p:nvSpPr>
        <p:spPr>
          <a:xfrm>
            <a:off x="12778234" y="2019300"/>
            <a:ext cx="47615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Resampling 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778234" y="2362200"/>
            <a:ext cx="4458526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N_eff/N ≈ 1.0 throughout the entire ~110 s run, with brief dips at landmark corrections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2511534" y="3703141"/>
            <a:ext cx="4823966" cy="1683841"/>
          </a:xfrm>
          <a:prstGeom prst="rect">
            <a:avLst/>
          </a:prstGeom>
          <a:solidFill>
            <a:srgbClr val="FEF3F2"/>
          </a:solidFill>
          <a:ln/>
        </p:spPr>
      </p:sp>
      <p:sp>
        <p:nvSpPr>
          <p:cNvPr id="10" name="Shape 7"/>
          <p:cNvSpPr/>
          <p:nvPr/>
        </p:nvSpPr>
        <p:spPr>
          <a:xfrm>
            <a:off x="12511534" y="3703141"/>
            <a:ext cx="38100" cy="1683841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8"/>
          <p:cNvSpPr/>
          <p:nvPr/>
        </p:nvSpPr>
        <p:spPr>
          <a:xfrm>
            <a:off x="12778234" y="3893641"/>
            <a:ext cx="47615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Resampling OFF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778234" y="4236541"/>
            <a:ext cx="4458526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N_eff/N collapses from ≈ 1.0 to ≈ 0.0 within </a:t>
            </a:r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 seconds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numerical zero for the rest of the run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2511534" y="5577483"/>
            <a:ext cx="4823966" cy="1340941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" name="Shape 11"/>
          <p:cNvSpPr/>
          <p:nvPr/>
        </p:nvSpPr>
        <p:spPr>
          <a:xfrm>
            <a:off x="12511534" y="5577483"/>
            <a:ext cx="38100" cy="1340941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15" name="Text 12"/>
          <p:cNvSpPr/>
          <p:nvPr/>
        </p:nvSpPr>
        <p:spPr>
          <a:xfrm>
            <a:off x="12778234" y="5767983"/>
            <a:ext cx="447338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A6A7E"/>
                </a:solidFill>
                <a:highlight>
                  <a:srgbClr val="F4F6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Matches the theoretical prediction: without resampling, degeneration is </a:t>
            </a:r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and irreversible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52500" y="9744075"/>
            <a:ext cx="34475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PROLB_R — Special Task 2510331009</a:t>
            </a:r>
            <a:endParaRPr lang="en-US" sz="1425" dirty="0"/>
          </a:p>
        </p:txBody>
      </p:sp>
      <p:sp>
        <p:nvSpPr>
          <p:cNvPr id="17" name="Text 14"/>
          <p:cNvSpPr/>
          <p:nvPr/>
        </p:nvSpPr>
        <p:spPr>
          <a:xfrm>
            <a:off x="14341673" y="9744075"/>
            <a:ext cx="32932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Rainhard Wipp · FH Technikum Wien</a:t>
            </a:r>
            <a:endParaRPr lang="en-US" sz="14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06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RMSE &amp; Key Insight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952500" y="1533525"/>
            <a:ext cx="457200" cy="28575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1981200"/>
            <a:ext cx="5562600" cy="180022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1981200"/>
            <a:ext cx="5562600" cy="28575"/>
          </a:xfrm>
          <a:prstGeom prst="rect">
            <a:avLst/>
          </a:prstGeom>
          <a:solidFill>
            <a:srgbClr val="00649C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2238375"/>
            <a:ext cx="5532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Resampling 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19200" y="2609850"/>
            <a:ext cx="553212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006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0.049 m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1219200" y="3257550"/>
            <a:ext cx="5532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RMSE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743700" y="1981200"/>
            <a:ext cx="5562600" cy="1800225"/>
          </a:xfrm>
          <a:prstGeom prst="rect">
            <a:avLst/>
          </a:prstGeom>
          <a:solidFill>
            <a:srgbClr val="FEF3F2"/>
          </a:solidFill>
          <a:ln/>
        </p:spPr>
      </p:sp>
      <p:sp>
        <p:nvSpPr>
          <p:cNvPr id="10" name="Shape 8"/>
          <p:cNvSpPr/>
          <p:nvPr/>
        </p:nvSpPr>
        <p:spPr>
          <a:xfrm>
            <a:off x="6743700" y="1981200"/>
            <a:ext cx="5562600" cy="2857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7010400" y="2238375"/>
            <a:ext cx="5532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Resampling OFF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10400" y="2609850"/>
            <a:ext cx="553212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0.076 m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7010400" y="3257550"/>
            <a:ext cx="5532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RMSE (+55%)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4200525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15" name="Text 13"/>
          <p:cNvSpPr/>
          <p:nvPr/>
        </p:nvSpPr>
        <p:spPr>
          <a:xfrm>
            <a:off x="1276350" y="4086225"/>
            <a:ext cx="1136084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surviving particle keeps integrating odometry — RMSE alone still looks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"reasonable"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full degeneration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52500" y="5181600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17" name="Text 15"/>
          <p:cNvSpPr/>
          <p:nvPr/>
        </p:nvSpPr>
        <p:spPr>
          <a:xfrm>
            <a:off x="1276350" y="5067300"/>
            <a:ext cx="1136084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filter has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its uncertainty representation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cannot express ambiguity or recover from drift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2915900" y="1981200"/>
            <a:ext cx="4419600" cy="3333750"/>
          </a:xfrm>
          <a:prstGeom prst="rect">
            <a:avLst/>
          </a:prstGeom>
          <a:solidFill>
            <a:srgbClr val="18243A"/>
          </a:solidFill>
          <a:ln/>
        </p:spPr>
      </p:sp>
      <p:sp>
        <p:nvSpPr>
          <p:cNvPr id="19" name="Text 17"/>
          <p:cNvSpPr/>
          <p:nvPr/>
        </p:nvSpPr>
        <p:spPr>
          <a:xfrm>
            <a:off x="13220700" y="2247900"/>
            <a:ext cx="4191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5" kern="0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20700" y="2667000"/>
            <a:ext cx="392430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is an </a:t>
            </a:r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 diagnostic 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its own.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3220700" y="3676650"/>
            <a:ext cx="392430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N_eff is required to detect degeneration — a collapsed PF still reports a confident-looking pose and covariance.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2500" y="9744075"/>
            <a:ext cx="34475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PROLB_R — Special Task 2510331009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4341673" y="9744075"/>
            <a:ext cx="32932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Rainhard Wipp · FH Technikum Wien</a:t>
            </a:r>
            <a:endParaRPr lang="en-US" sz="14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06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&amp; Interpretation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952500" y="1533525"/>
            <a:ext cx="457200" cy="28575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4376738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4262438"/>
            <a:ext cx="1635357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Resampling trades short-term particle diversity for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robustness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classic bias/variance tradeoff in SIR filters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52500" y="4981575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4867275"/>
            <a:ext cx="165409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resampling, the PF degrades into a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de-facto single-hypothesis filter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losing multi-modality and recovery from ambiguous data association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6000750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9" name="Text 7"/>
          <p:cNvSpPr/>
          <p:nvPr/>
        </p:nvSpPr>
        <p:spPr>
          <a:xfrm>
            <a:off x="1276350" y="5886450"/>
            <a:ext cx="165409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risk: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degenerated filter still reports a confident-looking pose and covariance — failure goes undetected without explicitly monitoring N_eff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7019925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11" name="Text 9"/>
          <p:cNvSpPr/>
          <p:nvPr/>
        </p:nvSpPr>
        <p:spPr>
          <a:xfrm>
            <a:off x="1276350" y="6905625"/>
            <a:ext cx="15788119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 Thrun (2006), Ch. 4.3: the </a:t>
            </a:r>
            <a:pPr algn="l" indent="0" marL="0">
              <a:lnSpc>
                <a:spcPct val="145000"/>
              </a:lnSpc>
              <a:buNone/>
            </a:pPr>
            <a:r>
              <a:rPr lang="en-US" sz="2250" i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degeneracy problem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textbook motivation for resampling in SIR filters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52500" y="9744075"/>
            <a:ext cx="34475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PROLB_R — Special Task 2510331009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4341673" y="9744075"/>
            <a:ext cx="32932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Rainhard Wipp · FH Technikum Wien</a:t>
            </a:r>
            <a:endParaRPr lang="en-US" sz="14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06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952500" y="1533525"/>
            <a:ext cx="457200" cy="28575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4295775"/>
            <a:ext cx="95250" cy="95250"/>
          </a:xfrm>
          <a:prstGeom prst="ellipse">
            <a:avLst/>
          </a:prstGeom>
          <a:solidFill>
            <a:srgbClr val="A0AEBA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4181475"/>
            <a:ext cx="1434844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run per condition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exact degeneration timing depends on the specific random noise realization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52500" y="4900613"/>
            <a:ext cx="95250" cy="95250"/>
          </a:xfrm>
          <a:prstGeom prst="ellipse">
            <a:avLst/>
          </a:prstGeom>
          <a:solidFill>
            <a:srgbClr val="A0AEBA"/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4786313"/>
            <a:ext cx="14443889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on/off only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intermediate strategy tested (e.g. threshold-based resampling at N_eff/N &lt; 0.5)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5505450"/>
            <a:ext cx="95250" cy="95250"/>
          </a:xfrm>
          <a:prstGeom prst="ellipse">
            <a:avLst/>
          </a:prstGeom>
          <a:solidFill>
            <a:srgbClr val="A0AEBA"/>
          </a:solidFill>
          <a:ln/>
        </p:spPr>
      </p:sp>
      <p:sp>
        <p:nvSpPr>
          <p:cNvPr id="9" name="Text 7"/>
          <p:cNvSpPr/>
          <p:nvPr/>
        </p:nvSpPr>
        <p:spPr>
          <a:xfrm>
            <a:off x="1276350" y="5391150"/>
            <a:ext cx="1108765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 is /odom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same circularity caveat applies as in the Q/R study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6110288"/>
            <a:ext cx="95250" cy="95250"/>
          </a:xfrm>
          <a:prstGeom prst="ellipse">
            <a:avLst/>
          </a:prstGeom>
          <a:solidFill>
            <a:srgbClr val="A0AEBA"/>
          </a:solidFill>
          <a:ln/>
        </p:spPr>
      </p:sp>
      <p:sp>
        <p:nvSpPr>
          <p:cNvPr id="11" name="Text 9"/>
          <p:cNvSpPr/>
          <p:nvPr/>
        </p:nvSpPr>
        <p:spPr>
          <a:xfrm>
            <a:off x="1276350" y="5995988"/>
            <a:ext cx="12292399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route (~110 s)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degeneration effects over much longer missions remain untested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2500" y="6677025"/>
            <a:ext cx="16383000" cy="7239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" y="6677025"/>
            <a:ext cx="38100" cy="723900"/>
          </a:xfrm>
          <a:prstGeom prst="rect">
            <a:avLst/>
          </a:prstGeom>
          <a:solidFill>
            <a:srgbClr val="00649C"/>
          </a:solidFill>
          <a:ln/>
        </p:spPr>
      </p:sp>
      <p:sp>
        <p:nvSpPr>
          <p:cNvPr id="14" name="Text 12"/>
          <p:cNvSpPr/>
          <p:nvPr/>
        </p:nvSpPr>
        <p:spPr>
          <a:xfrm>
            <a:off x="1257300" y="6867525"/>
            <a:ext cx="163029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extension: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A7E"/>
                </a:solidFill>
                <a:highlight>
                  <a:srgbClr val="F4F6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threshold-based resampling (resample only when N_eff/N &lt; 0.5) to study an intermediate strategy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2500" y="9744075"/>
            <a:ext cx="34475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PROLB_R — Special Task 2510331009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4341673" y="9744075"/>
            <a:ext cx="32932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Rainhard Wipp · FH Technikum Wien</a:t>
            </a:r>
            <a:endParaRPr lang="en-US" sz="14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06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&amp; Experiment Status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952500" y="1533525"/>
            <a:ext cx="457200" cy="28575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1981200"/>
            <a:ext cx="7877324" cy="50482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466975"/>
            <a:ext cx="7877324" cy="19050"/>
          </a:xfrm>
          <a:prstGeom prst="rect">
            <a:avLst/>
          </a:prstGeom>
          <a:solidFill>
            <a:srgbClr val="E0E4EA"/>
          </a:solidFill>
          <a:ln/>
        </p:spPr>
      </p:sp>
      <p:sp>
        <p:nvSpPr>
          <p:cNvPr id="6" name="Shape 4"/>
          <p:cNvSpPr/>
          <p:nvPr/>
        </p:nvSpPr>
        <p:spPr>
          <a:xfrm>
            <a:off x="8829824" y="1981200"/>
            <a:ext cx="1317575" cy="504825"/>
          </a:xfrm>
          <a:prstGeom prst="rect">
            <a:avLst/>
          </a:prstGeom>
          <a:solidFill>
            <a:srgbClr val="00649C"/>
          </a:solidFill>
          <a:ln/>
        </p:spPr>
      </p:sp>
      <p:sp>
        <p:nvSpPr>
          <p:cNvPr id="7" name="Shape 5"/>
          <p:cNvSpPr/>
          <p:nvPr/>
        </p:nvSpPr>
        <p:spPr>
          <a:xfrm>
            <a:off x="8829824" y="2466975"/>
            <a:ext cx="1317575" cy="19050"/>
          </a:xfrm>
          <a:prstGeom prst="rect">
            <a:avLst/>
          </a:prstGeom>
          <a:solidFill>
            <a:srgbClr val="005A8A"/>
          </a:solidFill>
          <a:ln/>
        </p:spPr>
      </p:sp>
      <p:sp>
        <p:nvSpPr>
          <p:cNvPr id="8" name="Text 6"/>
          <p:cNvSpPr/>
          <p:nvPr/>
        </p:nvSpPr>
        <p:spPr>
          <a:xfrm>
            <a:off x="8944124" y="2095500"/>
            <a:ext cx="10889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147399" y="1981200"/>
            <a:ext cx="1651546" cy="504825"/>
          </a:xfrm>
          <a:prstGeom prst="rect">
            <a:avLst/>
          </a:prstGeom>
          <a:solidFill>
            <a:srgbClr val="00649C"/>
          </a:solidFill>
          <a:ln/>
        </p:spPr>
      </p:sp>
      <p:sp>
        <p:nvSpPr>
          <p:cNvPr id="10" name="Shape 8"/>
          <p:cNvSpPr/>
          <p:nvPr/>
        </p:nvSpPr>
        <p:spPr>
          <a:xfrm>
            <a:off x="10147399" y="2466975"/>
            <a:ext cx="1651546" cy="19050"/>
          </a:xfrm>
          <a:prstGeom prst="rect">
            <a:avLst/>
          </a:prstGeom>
          <a:solidFill>
            <a:srgbClr val="005A8A"/>
          </a:solidFill>
          <a:ln/>
        </p:spPr>
      </p:sp>
      <p:sp>
        <p:nvSpPr>
          <p:cNvPr id="11" name="Shape 9"/>
          <p:cNvSpPr/>
          <p:nvPr/>
        </p:nvSpPr>
        <p:spPr>
          <a:xfrm>
            <a:off x="10147399" y="1981200"/>
            <a:ext cx="9525" cy="5048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71224" y="2095500"/>
            <a:ext cx="14134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EKF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798945" y="1981200"/>
            <a:ext cx="1307455" cy="504825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14" name="Shape 12"/>
          <p:cNvSpPr/>
          <p:nvPr/>
        </p:nvSpPr>
        <p:spPr>
          <a:xfrm>
            <a:off x="11798945" y="2466975"/>
            <a:ext cx="1307455" cy="19050"/>
          </a:xfrm>
          <a:prstGeom prst="rect">
            <a:avLst/>
          </a:prstGeom>
          <a:solidFill>
            <a:srgbClr val="7A9E18"/>
          </a:solidFill>
          <a:ln/>
        </p:spPr>
      </p:sp>
      <p:sp>
        <p:nvSpPr>
          <p:cNvPr id="15" name="Text 13"/>
          <p:cNvSpPr/>
          <p:nvPr/>
        </p:nvSpPr>
        <p:spPr>
          <a:xfrm>
            <a:off x="11913245" y="2095500"/>
            <a:ext cx="107885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3014663"/>
            <a:ext cx="12153900" cy="9525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" y="2486025"/>
            <a:ext cx="7877324" cy="53816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" y="2600325"/>
            <a:ext cx="780884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step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44124" y="2600325"/>
            <a:ext cx="108897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147399" y="2486025"/>
            <a:ext cx="9525" cy="538163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21" name="Text 19"/>
          <p:cNvSpPr/>
          <p:nvPr/>
        </p:nvSpPr>
        <p:spPr>
          <a:xfrm>
            <a:off x="10271224" y="2600325"/>
            <a:ext cx="141342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1798945" y="2486025"/>
            <a:ext cx="9525" cy="538163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23" name="Text 21"/>
          <p:cNvSpPr/>
          <p:nvPr/>
        </p:nvSpPr>
        <p:spPr>
          <a:xfrm>
            <a:off x="11922770" y="2600325"/>
            <a:ext cx="106933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52500" y="3024188"/>
            <a:ext cx="12153900" cy="5334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25" name="Shape 23"/>
          <p:cNvSpPr/>
          <p:nvPr/>
        </p:nvSpPr>
        <p:spPr>
          <a:xfrm>
            <a:off x="952500" y="3548063"/>
            <a:ext cx="12153900" cy="9525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26" name="Shape 24"/>
          <p:cNvSpPr/>
          <p:nvPr/>
        </p:nvSpPr>
        <p:spPr>
          <a:xfrm>
            <a:off x="952500" y="3024188"/>
            <a:ext cx="7877324" cy="5334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7" name="Text 25"/>
          <p:cNvSpPr/>
          <p:nvPr/>
        </p:nvSpPr>
        <p:spPr>
          <a:xfrm>
            <a:off x="1104900" y="3138488"/>
            <a:ext cx="78088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 (odom)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944124" y="3138488"/>
            <a:ext cx="10889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0147399" y="3024188"/>
            <a:ext cx="9525" cy="533400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30" name="Text 28"/>
          <p:cNvSpPr/>
          <p:nvPr/>
        </p:nvSpPr>
        <p:spPr>
          <a:xfrm>
            <a:off x="10271224" y="3138488"/>
            <a:ext cx="14134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1798945" y="3024188"/>
            <a:ext cx="9525" cy="533400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32" name="Text 30"/>
          <p:cNvSpPr/>
          <p:nvPr/>
        </p:nvSpPr>
        <p:spPr>
          <a:xfrm>
            <a:off x="11922770" y="3138488"/>
            <a:ext cx="10693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952500" y="4081463"/>
            <a:ext cx="12153900" cy="9525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34" name="Shape 32"/>
          <p:cNvSpPr/>
          <p:nvPr/>
        </p:nvSpPr>
        <p:spPr>
          <a:xfrm>
            <a:off x="952500" y="3557588"/>
            <a:ext cx="7877324" cy="5334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5" name="Text 33"/>
          <p:cNvSpPr/>
          <p:nvPr/>
        </p:nvSpPr>
        <p:spPr>
          <a:xfrm>
            <a:off x="1104900" y="3671888"/>
            <a:ext cx="78088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 (landmarks)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944124" y="3671888"/>
            <a:ext cx="10889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0147399" y="3557588"/>
            <a:ext cx="9525" cy="533400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38" name="Text 36"/>
          <p:cNvSpPr/>
          <p:nvPr/>
        </p:nvSpPr>
        <p:spPr>
          <a:xfrm>
            <a:off x="10271224" y="3671888"/>
            <a:ext cx="14134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1798945" y="3557588"/>
            <a:ext cx="9525" cy="533400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40" name="Text 38"/>
          <p:cNvSpPr/>
          <p:nvPr/>
        </p:nvSpPr>
        <p:spPr>
          <a:xfrm>
            <a:off x="11922770" y="3671888"/>
            <a:ext cx="10693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952500" y="4090987"/>
            <a:ext cx="12153900" cy="5334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42" name="Shape 40"/>
          <p:cNvSpPr/>
          <p:nvPr/>
        </p:nvSpPr>
        <p:spPr>
          <a:xfrm>
            <a:off x="952500" y="4614863"/>
            <a:ext cx="12153900" cy="9525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43" name="Shape 41"/>
          <p:cNvSpPr/>
          <p:nvPr/>
        </p:nvSpPr>
        <p:spPr>
          <a:xfrm>
            <a:off x="952500" y="4090987"/>
            <a:ext cx="7877324" cy="5334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4" name="Text 42"/>
          <p:cNvSpPr/>
          <p:nvPr/>
        </p:nvSpPr>
        <p:spPr>
          <a:xfrm>
            <a:off x="1104900" y="4205288"/>
            <a:ext cx="78088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3×3 covariance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944124" y="4205288"/>
            <a:ext cx="10889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0147399" y="4090987"/>
            <a:ext cx="9525" cy="533400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47" name="Text 45"/>
          <p:cNvSpPr/>
          <p:nvPr/>
        </p:nvSpPr>
        <p:spPr>
          <a:xfrm>
            <a:off x="10271224" y="4205288"/>
            <a:ext cx="14134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11798945" y="4090987"/>
            <a:ext cx="9525" cy="533400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49" name="Text 47"/>
          <p:cNvSpPr/>
          <p:nvPr/>
        </p:nvSpPr>
        <p:spPr>
          <a:xfrm>
            <a:off x="11922770" y="4205288"/>
            <a:ext cx="10693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952500" y="5148263"/>
            <a:ext cx="12153900" cy="9525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51" name="Shape 49"/>
          <p:cNvSpPr/>
          <p:nvPr/>
        </p:nvSpPr>
        <p:spPr>
          <a:xfrm>
            <a:off x="952500" y="4624388"/>
            <a:ext cx="7877324" cy="5334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2" name="Text 50"/>
          <p:cNvSpPr/>
          <p:nvPr/>
        </p:nvSpPr>
        <p:spPr>
          <a:xfrm>
            <a:off x="1104900" y="4738688"/>
            <a:ext cx="78088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RViz visualization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8944124" y="4738688"/>
            <a:ext cx="10889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10147399" y="4624388"/>
            <a:ext cx="9525" cy="533400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55" name="Text 53"/>
          <p:cNvSpPr/>
          <p:nvPr/>
        </p:nvSpPr>
        <p:spPr>
          <a:xfrm>
            <a:off x="10271224" y="4738688"/>
            <a:ext cx="14134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11798945" y="4624388"/>
            <a:ext cx="9525" cy="533400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57" name="Text 55"/>
          <p:cNvSpPr/>
          <p:nvPr/>
        </p:nvSpPr>
        <p:spPr>
          <a:xfrm>
            <a:off x="11922770" y="4738688"/>
            <a:ext cx="10693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58" name="Shape 56"/>
          <p:cNvSpPr/>
          <p:nvPr/>
        </p:nvSpPr>
        <p:spPr>
          <a:xfrm>
            <a:off x="952500" y="5157788"/>
            <a:ext cx="12153900" cy="5334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59" name="Shape 57"/>
          <p:cNvSpPr/>
          <p:nvPr/>
        </p:nvSpPr>
        <p:spPr>
          <a:xfrm>
            <a:off x="952500" y="5681663"/>
            <a:ext cx="12153900" cy="9525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60" name="Shape 58"/>
          <p:cNvSpPr/>
          <p:nvPr/>
        </p:nvSpPr>
        <p:spPr>
          <a:xfrm>
            <a:off x="952500" y="5157788"/>
            <a:ext cx="7877324" cy="5334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61" name="Text 59"/>
          <p:cNvSpPr/>
          <p:nvPr/>
        </p:nvSpPr>
        <p:spPr>
          <a:xfrm>
            <a:off x="1104900" y="5272088"/>
            <a:ext cx="78088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 check (stale odom)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8944124" y="5272088"/>
            <a:ext cx="10889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63" name="Shape 61"/>
          <p:cNvSpPr/>
          <p:nvPr/>
        </p:nvSpPr>
        <p:spPr>
          <a:xfrm>
            <a:off x="10147399" y="5157788"/>
            <a:ext cx="9525" cy="533400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64" name="Text 62"/>
          <p:cNvSpPr/>
          <p:nvPr/>
        </p:nvSpPr>
        <p:spPr>
          <a:xfrm>
            <a:off x="10271224" y="5272088"/>
            <a:ext cx="14134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65" name="Shape 63"/>
          <p:cNvSpPr/>
          <p:nvPr/>
        </p:nvSpPr>
        <p:spPr>
          <a:xfrm>
            <a:off x="11798945" y="5157788"/>
            <a:ext cx="9525" cy="533400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66" name="Text 64"/>
          <p:cNvSpPr/>
          <p:nvPr/>
        </p:nvSpPr>
        <p:spPr>
          <a:xfrm>
            <a:off x="11922770" y="5272088"/>
            <a:ext cx="10693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952500" y="5691188"/>
            <a:ext cx="7877324" cy="52863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8" name="Text 66"/>
          <p:cNvSpPr/>
          <p:nvPr/>
        </p:nvSpPr>
        <p:spPr>
          <a:xfrm>
            <a:off x="1104900" y="5805488"/>
            <a:ext cx="780884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Tunable Q/R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8944124" y="5805488"/>
            <a:ext cx="108897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70" name="Shape 68"/>
          <p:cNvSpPr/>
          <p:nvPr/>
        </p:nvSpPr>
        <p:spPr>
          <a:xfrm>
            <a:off x="10147399" y="5691188"/>
            <a:ext cx="9525" cy="528638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71" name="Text 69"/>
          <p:cNvSpPr/>
          <p:nvPr/>
        </p:nvSpPr>
        <p:spPr>
          <a:xfrm>
            <a:off x="10271224" y="5805488"/>
            <a:ext cx="141342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72" name="Shape 70"/>
          <p:cNvSpPr/>
          <p:nvPr/>
        </p:nvSpPr>
        <p:spPr>
          <a:xfrm>
            <a:off x="11798945" y="5691188"/>
            <a:ext cx="9525" cy="528638"/>
          </a:xfrm>
          <a:prstGeom prst="rect">
            <a:avLst/>
          </a:prstGeom>
          <a:solidFill>
            <a:srgbClr val="E8EBF0"/>
          </a:solidFill>
          <a:ln/>
        </p:spPr>
      </p:sp>
      <p:sp>
        <p:nvSpPr>
          <p:cNvPr id="73" name="Text 71"/>
          <p:cNvSpPr/>
          <p:nvPr/>
        </p:nvSpPr>
        <p:spPr>
          <a:xfrm>
            <a:off x="11922770" y="5805488"/>
            <a:ext cx="106933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74" name="Text 72"/>
          <p:cNvSpPr/>
          <p:nvPr/>
        </p:nvSpPr>
        <p:spPr>
          <a:xfrm>
            <a:off x="13716000" y="1981200"/>
            <a:ext cx="3981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5" kern="0" dirty="0">
                <a:solidFill>
                  <a:srgbClr val="5A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 COMPLETED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13716000" y="2447925"/>
            <a:ext cx="1903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3963501" y="2400300"/>
            <a:ext cx="33786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 RMSE vs /odom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13716000" y="2857500"/>
            <a:ext cx="1903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13963501" y="2809875"/>
            <a:ext cx="34565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Covariance trace visualization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13716000" y="3414713"/>
            <a:ext cx="1903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13963501" y="3219450"/>
            <a:ext cx="347315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 detection (shared map)</a:t>
            </a:r>
            <a:endParaRPr lang="en-US" sz="1800" dirty="0"/>
          </a:p>
        </p:txBody>
      </p:sp>
      <p:sp>
        <p:nvSpPr>
          <p:cNvPr id="81" name="Text 79"/>
          <p:cNvSpPr/>
          <p:nvPr/>
        </p:nvSpPr>
        <p:spPr>
          <a:xfrm>
            <a:off x="13716000" y="4119562"/>
            <a:ext cx="1903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13963501" y="3924300"/>
            <a:ext cx="347315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Task: N_eff with vs. without resampling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13716000" y="4686300"/>
            <a:ext cx="1903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13963501" y="4629150"/>
            <a:ext cx="32727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σ_process variation (4 runs)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13716000" y="5114925"/>
            <a:ext cx="1903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13963501" y="5057775"/>
            <a:ext cx="297168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σ_meas variation (4 runs)</a:t>
            </a:r>
            <a:endParaRPr lang="en-US" sz="1800" dirty="0"/>
          </a:p>
        </p:txBody>
      </p:sp>
      <p:sp>
        <p:nvSpPr>
          <p:cNvPr id="87" name="Text 85"/>
          <p:cNvSpPr/>
          <p:nvPr/>
        </p:nvSpPr>
        <p:spPr>
          <a:xfrm>
            <a:off x="952500" y="9744075"/>
            <a:ext cx="34475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PROLB_R — Special Task 2510331009</a:t>
            </a:r>
            <a:endParaRPr lang="en-US" sz="1425" dirty="0"/>
          </a:p>
        </p:txBody>
      </p:sp>
      <p:sp>
        <p:nvSpPr>
          <p:cNvPr id="88" name="Text 86"/>
          <p:cNvSpPr/>
          <p:nvPr/>
        </p:nvSpPr>
        <p:spPr>
          <a:xfrm>
            <a:off x="14341673" y="9744075"/>
            <a:ext cx="32932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Rainhard Wipp · FH Technikum Wien</a:t>
            </a:r>
            <a:endParaRPr lang="en-US" sz="14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8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509838"/>
            <a:ext cx="18021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8BB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952500" y="3281363"/>
            <a:ext cx="28575" cy="1600200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4" name="Text 2"/>
          <p:cNvSpPr/>
          <p:nvPr/>
        </p:nvSpPr>
        <p:spPr>
          <a:xfrm>
            <a:off x="1285875" y="3281363"/>
            <a:ext cx="14372749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KF, EKF, and PF perform near-identically </a:t>
            </a:r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benign noise on this shared, landmark-augmented setup — differences emerge mainly under high measurement uncertainty, where PF is most robust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52500" y="5300663"/>
            <a:ext cx="28575" cy="1066800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6" name="Text 4"/>
          <p:cNvSpPr/>
          <p:nvPr/>
        </p:nvSpPr>
        <p:spPr>
          <a:xfrm>
            <a:off x="1285875" y="5300663"/>
            <a:ext cx="14372749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Resampling prevents particle degeneration </a:t>
            </a:r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disabling it causes near-total weight collapse (N_eff/N: 1.0 → ~0.0) within ~20 seconds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" y="6786563"/>
            <a:ext cx="28575" cy="1066800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8" name="Text 6"/>
          <p:cNvSpPr/>
          <p:nvPr/>
        </p:nvSpPr>
        <p:spPr>
          <a:xfrm>
            <a:off x="1285875" y="6786563"/>
            <a:ext cx="14372749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alone does not reveal degeneration </a:t>
            </a:r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surviving particle can still track odometry well short-term; N_eff is an essential complementary diagnostic</a:t>
            </a:r>
            <a:endParaRPr lang="en-US" sz="3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06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952500" y="1533525"/>
            <a:ext cx="457200" cy="28575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3771900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3657600"/>
            <a:ext cx="176650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Thrun, S., Burgard, W., Fox, D. (2006). </a:t>
            </a:r>
            <a:pPr algn="l" indent="0" marL="0">
              <a:buNone/>
            </a:pPr>
            <a:r>
              <a:rPr lang="en-US" sz="2250" b="1" i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Robotics. </a:t>
            </a:r>
            <a:pPr algn="l" indent="0" marL="0"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Press.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76350" y="4076700"/>
            <a:ext cx="3771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3.1 — Kalman Filter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972050" y="4076700"/>
            <a:ext cx="60350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3.3 / 7.2 — EKF / EKF Localization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25150" y="4076700"/>
            <a:ext cx="49789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4.3 — Particle Filter (MCL)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76350" y="4648200"/>
            <a:ext cx="49789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4.4 — Systematic Resampling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5372100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11" name="Text 9"/>
          <p:cNvSpPr/>
          <p:nvPr/>
        </p:nvSpPr>
        <p:spPr>
          <a:xfrm>
            <a:off x="1276350" y="5257800"/>
            <a:ext cx="293533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Nav2 Documentation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76350" y="5638800"/>
            <a:ext cx="29353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docs.nav2.org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6362700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14" name="Text 12"/>
          <p:cNvSpPr/>
          <p:nvPr/>
        </p:nvSpPr>
        <p:spPr>
          <a:xfrm>
            <a:off x="1276350" y="6248400"/>
            <a:ext cx="403563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 2 Jazzy Documentation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76350" y="6629400"/>
            <a:ext cx="40356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docs.ros.org/en/jazzy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7353300"/>
            <a:ext cx="95250" cy="95250"/>
          </a:xfrm>
          <a:prstGeom prst="ellipse">
            <a:avLst/>
          </a:prstGeom>
          <a:solidFill>
            <a:srgbClr val="8BB31D"/>
          </a:solidFill>
          <a:ln/>
        </p:spPr>
      </p:sp>
      <p:sp>
        <p:nvSpPr>
          <p:cNvPr id="17" name="Text 15"/>
          <p:cNvSpPr/>
          <p:nvPr/>
        </p:nvSpPr>
        <p:spPr>
          <a:xfrm>
            <a:off x="1276350" y="7239000"/>
            <a:ext cx="392284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8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76350" y="7620000"/>
            <a:ext cx="39228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github.com/Raini20/PROLB_R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2500" y="9744075"/>
            <a:ext cx="34475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PROLB_R — Special Task 2510331009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4341673" y="9744075"/>
            <a:ext cx="32932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E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Rainhard Wipp · FH Technikum Wien</a:t>
            </a:r>
            <a:endParaRPr lang="en-US" sz="14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64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3466207"/>
            <a:ext cx="571500" cy="38100"/>
          </a:xfrm>
          <a:prstGeom prst="rect">
            <a:avLst/>
          </a:prstGeom>
          <a:solidFill>
            <a:srgbClr val="8BB31D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999607"/>
            <a:ext cx="18021300" cy="878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52500" y="5068193"/>
            <a:ext cx="180213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6182618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Rainhard Wipp · M.Sc. Robotics Engineering · FH Technikum Wien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" y="6592193"/>
            <a:ext cx="18021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github.com/Raini20/PROLB_R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2026-06-20T05:26:20Z</dcterms:created>
  <dcterms:modified xsi:type="dcterms:W3CDTF">2026-06-20T05:26:20Z</dcterms:modified>
</cp:coreProperties>
</file>